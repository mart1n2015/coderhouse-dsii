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1" r:id="rId2"/>
    <p:sldId id="256" r:id="rId3"/>
    <p:sldId id="257" r:id="rId4"/>
    <p:sldId id="258" r:id="rId5"/>
    <p:sldId id="259" r:id="rId6"/>
    <p:sldId id="260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477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512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164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451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010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61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625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443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253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4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687196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5266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07937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3360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5322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819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797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FEE67B-6166-0910-0736-EC6764FA18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ctr"/>
            <a:r>
              <a:rPr lang="es-MX" sz="3200" dirty="0"/>
              <a:t>PREDICCION DE PRECIO DE ACCIONES DEL S&amp;P 500 </a:t>
            </a:r>
          </a:p>
          <a:p>
            <a:pPr algn="ctr"/>
            <a:endParaRPr lang="es-MX" sz="3200" dirty="0"/>
          </a:p>
          <a:p>
            <a:pPr algn="ctr"/>
            <a:endParaRPr lang="es-MX" sz="3200" dirty="0"/>
          </a:p>
          <a:p>
            <a:pPr algn="ctr"/>
            <a:endParaRPr lang="es-MX" sz="3200" dirty="0"/>
          </a:p>
          <a:p>
            <a:pPr algn="ctr"/>
            <a:endParaRPr lang="es-MX" sz="3200" dirty="0"/>
          </a:p>
          <a:p>
            <a:pPr algn="r"/>
            <a:r>
              <a:rPr lang="es-AR" sz="1700" dirty="0"/>
              <a:t>CERIOLI MARTIN</a:t>
            </a:r>
          </a:p>
          <a:p>
            <a:pPr algn="r"/>
            <a:r>
              <a:rPr lang="es-AR" sz="1700" dirty="0"/>
              <a:t>Data </a:t>
            </a:r>
            <a:r>
              <a:rPr lang="es-AR" sz="1700" dirty="0" err="1"/>
              <a:t>Science</a:t>
            </a:r>
            <a:r>
              <a:rPr lang="es-AR" sz="1700" dirty="0"/>
              <a:t> II</a:t>
            </a:r>
          </a:p>
          <a:p>
            <a:pPr algn="r"/>
            <a:endParaRPr lang="es-AR" sz="1700" dirty="0"/>
          </a:p>
          <a:p>
            <a:pPr marL="0" indent="0" algn="r">
              <a:buNone/>
            </a:pPr>
            <a:endParaRPr lang="es-AR" sz="1700" dirty="0"/>
          </a:p>
          <a:p>
            <a:pPr algn="r"/>
            <a:endParaRPr lang="es-AR" sz="1700" dirty="0"/>
          </a:p>
        </p:txBody>
      </p:sp>
    </p:spTree>
    <p:extLst>
      <p:ext uri="{BB962C8B-B14F-4D97-AF65-F5344CB8AC3E}">
        <p14:creationId xmlns:p14="http://schemas.microsoft.com/office/powerpoint/2010/main" val="991355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1. </a:t>
            </a:r>
            <a:r>
              <a:rPr dirty="0" err="1"/>
              <a:t>Motivación</a:t>
            </a:r>
            <a:r>
              <a:rPr dirty="0"/>
              <a:t> y Audiencia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Este </a:t>
            </a:r>
            <a:r>
              <a:rPr dirty="0" err="1"/>
              <a:t>proyecto</a:t>
            </a:r>
            <a:r>
              <a:rPr dirty="0"/>
              <a:t> </a:t>
            </a:r>
            <a:r>
              <a:rPr dirty="0" err="1"/>
              <a:t>analiza</a:t>
            </a:r>
            <a:r>
              <a:rPr dirty="0"/>
              <a:t> </a:t>
            </a:r>
            <a:r>
              <a:rPr dirty="0" err="1"/>
              <a:t>datos</a:t>
            </a:r>
            <a:r>
              <a:rPr dirty="0"/>
              <a:t> </a:t>
            </a:r>
            <a:r>
              <a:rPr dirty="0" err="1"/>
              <a:t>financieros</a:t>
            </a:r>
            <a:r>
              <a:rPr dirty="0"/>
              <a:t> de </a:t>
            </a:r>
            <a:r>
              <a:rPr dirty="0" err="1"/>
              <a:t>empresas</a:t>
            </a:r>
            <a:r>
              <a:rPr dirty="0"/>
              <a:t> </a:t>
            </a:r>
            <a:r>
              <a:rPr dirty="0" err="1"/>
              <a:t>cotizantes</a:t>
            </a:r>
            <a:r>
              <a:rPr dirty="0"/>
              <a:t> con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objetivo</a:t>
            </a:r>
            <a:r>
              <a:rPr dirty="0"/>
              <a:t> de </a:t>
            </a:r>
            <a:r>
              <a:rPr dirty="0" err="1"/>
              <a:t>predecir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precio</a:t>
            </a:r>
            <a:r>
              <a:rPr dirty="0"/>
              <a:t> de las </a:t>
            </a:r>
            <a:r>
              <a:rPr dirty="0" err="1"/>
              <a:t>acciones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función</a:t>
            </a:r>
            <a:r>
              <a:rPr dirty="0"/>
              <a:t> de sus ratios </a:t>
            </a:r>
            <a:r>
              <a:rPr dirty="0" err="1"/>
              <a:t>fundamentales</a:t>
            </a:r>
            <a:r>
              <a:rPr dirty="0"/>
              <a:t> (P/E, P/B, EBITDA, Market Cap, etc.). La </a:t>
            </a:r>
            <a:r>
              <a:rPr dirty="0" err="1"/>
              <a:t>motivación</a:t>
            </a:r>
            <a:r>
              <a:rPr dirty="0"/>
              <a:t> principal es </a:t>
            </a:r>
            <a:r>
              <a:rPr dirty="0" err="1"/>
              <a:t>identificar</a:t>
            </a:r>
            <a:r>
              <a:rPr dirty="0"/>
              <a:t> </a:t>
            </a:r>
            <a:r>
              <a:rPr dirty="0" err="1"/>
              <a:t>patrones</a:t>
            </a:r>
            <a:r>
              <a:rPr dirty="0"/>
              <a:t> que </a:t>
            </a:r>
            <a:r>
              <a:rPr dirty="0" err="1"/>
              <a:t>permitan</a:t>
            </a:r>
            <a:r>
              <a:rPr dirty="0"/>
              <a:t> </a:t>
            </a:r>
            <a:r>
              <a:rPr dirty="0" err="1"/>
              <a:t>mejorar</a:t>
            </a:r>
            <a:r>
              <a:rPr dirty="0"/>
              <a:t> </a:t>
            </a:r>
            <a:r>
              <a:rPr dirty="0" err="1"/>
              <a:t>decisiones</a:t>
            </a:r>
            <a:r>
              <a:rPr dirty="0"/>
              <a:t> de </a:t>
            </a:r>
            <a:r>
              <a:rPr dirty="0" err="1"/>
              <a:t>inversión</a:t>
            </a:r>
            <a:r>
              <a:rPr dirty="0"/>
              <a:t>. La audiencia </a:t>
            </a:r>
            <a:r>
              <a:rPr dirty="0" err="1"/>
              <a:t>beneficiaria</a:t>
            </a:r>
            <a:r>
              <a:rPr dirty="0"/>
              <a:t> </a:t>
            </a:r>
            <a:r>
              <a:rPr dirty="0" err="1"/>
              <a:t>incluye</a:t>
            </a:r>
            <a:r>
              <a:rPr dirty="0"/>
              <a:t> </a:t>
            </a:r>
            <a:r>
              <a:rPr dirty="0" err="1"/>
              <a:t>analistas</a:t>
            </a:r>
            <a:r>
              <a:rPr dirty="0"/>
              <a:t> </a:t>
            </a:r>
            <a:r>
              <a:rPr dirty="0" err="1"/>
              <a:t>financieros</a:t>
            </a:r>
            <a:r>
              <a:rPr dirty="0"/>
              <a:t>, </a:t>
            </a:r>
            <a:r>
              <a:rPr dirty="0" err="1"/>
              <a:t>inversores</a:t>
            </a:r>
            <a:r>
              <a:rPr dirty="0"/>
              <a:t> </a:t>
            </a:r>
            <a:r>
              <a:rPr dirty="0" err="1"/>
              <a:t>minoristas</a:t>
            </a:r>
            <a:r>
              <a:rPr dirty="0"/>
              <a:t> y </a:t>
            </a:r>
            <a:r>
              <a:rPr dirty="0" err="1"/>
              <a:t>estudiantes</a:t>
            </a:r>
            <a:r>
              <a:rPr dirty="0"/>
              <a:t> de data science </a:t>
            </a:r>
            <a:r>
              <a:rPr dirty="0" err="1"/>
              <a:t>interesados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modelado</a:t>
            </a:r>
            <a:r>
              <a:rPr dirty="0"/>
              <a:t> </a:t>
            </a:r>
            <a:r>
              <a:rPr dirty="0" err="1"/>
              <a:t>financiero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Resumen de Metadata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El dataset contiene información de empresas listadas en el mercado, con las siguientes características:</a:t>
            </a:r>
          </a:p>
          <a:p>
            <a:endParaRPr/>
          </a:p>
          <a:p>
            <a:r>
              <a:t>- Filas: Número variable según las empresas incluidas</a:t>
            </a:r>
          </a:p>
          <a:p>
            <a:r>
              <a:t>- Columnas: 13 (Symbol, Name, Sector, Price, Price/Earnings, Dividend Yield, Earnings/Share, 52 Week Low, 52 Week High, Market Cap, EBITDA, Price/Sales, Price/Book)</a:t>
            </a:r>
          </a:p>
          <a:p>
            <a:r>
              <a:t>- Variables categóricas: Symbol, Name, Sector</a:t>
            </a:r>
          </a:p>
          <a:p>
            <a:r>
              <a:t>- Variables numéricas: ratios financieros y precios.</a:t>
            </a:r>
          </a:p>
          <a:p>
            <a:endParaRPr/>
          </a:p>
          <a:p>
            <a:r>
              <a:t>Los datos fueron complementados con información actualizada desde la API de Alpha Vantage.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Preguntas e Hipótesis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¿Qué variables financieras tienen mayor impacto en el precio de una acción?</a:t>
            </a:r>
          </a:p>
          <a:p>
            <a:r>
              <a:t>- ¿Existen sectores con precios sistemáticamente más altos o bajos?</a:t>
            </a:r>
          </a:p>
          <a:p>
            <a:r>
              <a:t>- ¿El ratio P/E es un predictor significativo del precio?</a:t>
            </a:r>
          </a:p>
          <a:p>
            <a:r>
              <a:t>- ¿Puede un modelo de regresión lineal estimar correctamente el precio de una acción usando los datos fundamentales?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Visualizaciones Ejecutivas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Se realizaron las siguientes visualizaciones clave:</a:t>
            </a:r>
          </a:p>
          <a:p>
            <a:endParaRPr/>
          </a:p>
          <a:p>
            <a:r>
              <a:t>- Gráfico de dispersión entre Price y P/E.</a:t>
            </a:r>
          </a:p>
          <a:p>
            <a:r>
              <a:t>- Boxplot del precio por sector.</a:t>
            </a:r>
          </a:p>
          <a:p>
            <a:r>
              <a:t>- Matriz de correlación entre variables financieras.</a:t>
            </a:r>
          </a:p>
          <a:p>
            <a:r>
              <a:t>- Curva de predicción del modelo lineal vs precios reales.</a:t>
            </a:r>
          </a:p>
          <a:p>
            <a:endParaRPr/>
          </a:p>
          <a:p>
            <a:r>
              <a:t>Estas visualizaciones permitieron validar la relación entre variables y evaluar el desempeño del modelo predictivo.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5. Insights y </a:t>
            </a:r>
            <a:r>
              <a:rPr dirty="0" err="1"/>
              <a:t>Conclusiones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- El ratio P/E y </a:t>
            </a:r>
            <a:r>
              <a:rPr dirty="0" err="1"/>
              <a:t>el</a:t>
            </a:r>
            <a:r>
              <a:rPr dirty="0"/>
              <a:t> Market Cap </a:t>
            </a:r>
            <a:r>
              <a:rPr dirty="0" err="1"/>
              <a:t>mostraron</a:t>
            </a:r>
            <a:r>
              <a:rPr dirty="0"/>
              <a:t> la mayor </a:t>
            </a:r>
            <a:r>
              <a:rPr dirty="0" err="1"/>
              <a:t>correlación</a:t>
            </a:r>
            <a:r>
              <a:rPr dirty="0"/>
              <a:t> con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precio</a:t>
            </a:r>
            <a:r>
              <a:rPr dirty="0"/>
              <a:t>.</a:t>
            </a:r>
          </a:p>
          <a:p>
            <a:r>
              <a:rPr dirty="0"/>
              <a:t>- La </a:t>
            </a:r>
            <a:r>
              <a:rPr dirty="0" err="1"/>
              <a:t>inclusión</a:t>
            </a:r>
            <a:r>
              <a:rPr dirty="0"/>
              <a:t> del sector </a:t>
            </a:r>
            <a:r>
              <a:rPr dirty="0" err="1"/>
              <a:t>mediante</a:t>
            </a:r>
            <a:r>
              <a:rPr dirty="0"/>
              <a:t> One-Hot Encoding </a:t>
            </a:r>
            <a:r>
              <a:rPr dirty="0" err="1"/>
              <a:t>mejoró</a:t>
            </a:r>
            <a:r>
              <a:rPr dirty="0"/>
              <a:t> la </a:t>
            </a:r>
            <a:r>
              <a:rPr dirty="0" err="1"/>
              <a:t>precisión</a:t>
            </a:r>
            <a:r>
              <a:rPr dirty="0"/>
              <a:t> del </a:t>
            </a:r>
            <a:r>
              <a:rPr dirty="0" err="1"/>
              <a:t>modelo</a:t>
            </a:r>
            <a:r>
              <a:rPr dirty="0"/>
              <a:t>.</a:t>
            </a:r>
          </a:p>
          <a:p>
            <a:r>
              <a:rPr dirty="0"/>
              <a:t>- El </a:t>
            </a:r>
            <a:r>
              <a:rPr dirty="0" err="1"/>
              <a:t>modelo</a:t>
            </a:r>
            <a:r>
              <a:rPr dirty="0"/>
              <a:t> de </a:t>
            </a:r>
            <a:r>
              <a:rPr dirty="0" err="1"/>
              <a:t>regresión</a:t>
            </a:r>
            <a:r>
              <a:rPr dirty="0"/>
              <a:t> lineal </a:t>
            </a:r>
            <a:r>
              <a:rPr dirty="0" err="1"/>
              <a:t>logró</a:t>
            </a:r>
            <a:r>
              <a:rPr dirty="0"/>
              <a:t> un R² </a:t>
            </a:r>
            <a:r>
              <a:rPr dirty="0" err="1"/>
              <a:t>razonable</a:t>
            </a:r>
            <a:r>
              <a:rPr dirty="0"/>
              <a:t>, </a:t>
            </a:r>
            <a:r>
              <a:rPr dirty="0" err="1"/>
              <a:t>mostrando</a:t>
            </a:r>
            <a:r>
              <a:rPr dirty="0"/>
              <a:t> </a:t>
            </a:r>
            <a:r>
              <a:rPr dirty="0" err="1"/>
              <a:t>capacidad</a:t>
            </a:r>
            <a:r>
              <a:rPr dirty="0"/>
              <a:t> de </a:t>
            </a:r>
            <a:r>
              <a:rPr dirty="0" err="1"/>
              <a:t>explicar</a:t>
            </a:r>
            <a:r>
              <a:rPr dirty="0"/>
              <a:t> la </a:t>
            </a:r>
            <a:r>
              <a:rPr dirty="0" err="1"/>
              <a:t>variación</a:t>
            </a:r>
            <a:r>
              <a:rPr dirty="0"/>
              <a:t> del </a:t>
            </a:r>
            <a:r>
              <a:rPr dirty="0" err="1"/>
              <a:t>precio</a:t>
            </a:r>
            <a:r>
              <a:rPr dirty="0"/>
              <a:t>.</a:t>
            </a:r>
          </a:p>
          <a:p>
            <a:r>
              <a:rPr dirty="0"/>
              <a:t>- </a:t>
            </a:r>
            <a:r>
              <a:rPr dirty="0" err="1"/>
              <a:t>Sectores</a:t>
            </a:r>
            <a:r>
              <a:rPr dirty="0"/>
              <a:t> </a:t>
            </a:r>
            <a:r>
              <a:rPr dirty="0" err="1"/>
              <a:t>tecnológicos</a:t>
            </a:r>
            <a:r>
              <a:rPr dirty="0"/>
              <a:t> y de </a:t>
            </a:r>
            <a:r>
              <a:rPr dirty="0" err="1"/>
              <a:t>salud</a:t>
            </a:r>
            <a:r>
              <a:rPr dirty="0"/>
              <a:t> </a:t>
            </a:r>
            <a:r>
              <a:rPr dirty="0" err="1"/>
              <a:t>tendieron</a:t>
            </a:r>
            <a:r>
              <a:rPr dirty="0"/>
              <a:t> a </a:t>
            </a:r>
            <a:r>
              <a:rPr dirty="0" err="1"/>
              <a:t>presentar</a:t>
            </a:r>
            <a:r>
              <a:rPr dirty="0"/>
              <a:t> </a:t>
            </a:r>
            <a:r>
              <a:rPr dirty="0" err="1"/>
              <a:t>precios</a:t>
            </a:r>
            <a:r>
              <a:rPr dirty="0"/>
              <a:t> </a:t>
            </a:r>
            <a:r>
              <a:rPr dirty="0" err="1"/>
              <a:t>más</a:t>
            </a:r>
            <a:r>
              <a:rPr dirty="0"/>
              <a:t> altos que </a:t>
            </a:r>
            <a:r>
              <a:rPr dirty="0" err="1"/>
              <a:t>energía</a:t>
            </a:r>
            <a:r>
              <a:rPr dirty="0"/>
              <a:t> y </a:t>
            </a:r>
            <a:r>
              <a:rPr dirty="0" err="1"/>
              <a:t>servicios</a:t>
            </a:r>
            <a:r>
              <a:rPr dirty="0"/>
              <a:t>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26D487-457A-CF1C-1DEE-542E44B13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5201" y="654932"/>
            <a:ext cx="6589199" cy="1280890"/>
          </a:xfrm>
        </p:spPr>
        <p:txBody>
          <a:bodyPr/>
          <a:lstStyle/>
          <a:p>
            <a:r>
              <a:rPr lang="es-AR" dirty="0"/>
              <a:t>6. Modelado y Evaluación</a:t>
            </a:r>
            <a:br>
              <a:rPr lang="es-A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2F7D11F-6532-E490-D61E-C97BA49FA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AR" sz="1900" dirty="0"/>
              <a:t>- Inicialmente, se desarrolló un modelo de Regresión Lineal para predecir el precio de las acciones (Price) basándose en un conjunto de características financieras clave: </a:t>
            </a:r>
          </a:p>
          <a:p>
            <a:r>
              <a:rPr lang="es-AR" sz="1900" dirty="0"/>
              <a:t>- Posteriormente, se implementó un modelo Lasso (</a:t>
            </a:r>
            <a:r>
              <a:rPr lang="es-AR" sz="1900" dirty="0" err="1"/>
              <a:t>Least</a:t>
            </a:r>
            <a:r>
              <a:rPr lang="es-AR" sz="1900" dirty="0"/>
              <a:t> Absolute </a:t>
            </a:r>
            <a:r>
              <a:rPr lang="es-AR" sz="1900" dirty="0" err="1"/>
              <a:t>Shrinkage</a:t>
            </a:r>
            <a:r>
              <a:rPr lang="es-AR" sz="1900" dirty="0"/>
              <a:t> and </a:t>
            </a:r>
            <a:r>
              <a:rPr lang="es-AR" sz="1900" dirty="0" err="1"/>
              <a:t>Selection</a:t>
            </a:r>
            <a:r>
              <a:rPr lang="es-AR" sz="1900" dirty="0"/>
              <a:t> </a:t>
            </a:r>
            <a:r>
              <a:rPr lang="es-AR" sz="1900" dirty="0" err="1"/>
              <a:t>Operator</a:t>
            </a:r>
            <a:r>
              <a:rPr lang="es-AR" sz="1900" dirty="0"/>
              <a:t>) para mejorar la predicción y potencialmente realizar selección de características, especialmente después de normalizar las variables </a:t>
            </a:r>
            <a:r>
              <a:rPr lang="es-AR" sz="1900" dirty="0" err="1"/>
              <a:t>Market</a:t>
            </a:r>
            <a:r>
              <a:rPr lang="es-AR" sz="1900" dirty="0"/>
              <a:t> </a:t>
            </a:r>
            <a:r>
              <a:rPr lang="es-AR" sz="1900" dirty="0" err="1"/>
              <a:t>Cap</a:t>
            </a:r>
            <a:r>
              <a:rPr lang="es-AR" sz="1900" dirty="0"/>
              <a:t> y EBITDA usando </a:t>
            </a:r>
            <a:r>
              <a:rPr lang="es-AR" sz="1900" dirty="0" err="1"/>
              <a:t>MinMaxScaler</a:t>
            </a:r>
            <a:endParaRPr lang="es-AR" sz="1900" dirty="0"/>
          </a:p>
          <a:p>
            <a:r>
              <a:rPr lang="es-AR" sz="1900" dirty="0"/>
              <a:t>Para el modelo Lasso, se utilizó </a:t>
            </a:r>
            <a:r>
              <a:rPr lang="es-AR" sz="1900" dirty="0" err="1"/>
              <a:t>GridSearchCV</a:t>
            </a:r>
            <a:r>
              <a:rPr lang="es-AR" sz="1900" dirty="0"/>
              <a:t> para encontrar el </a:t>
            </a:r>
            <a:r>
              <a:rPr lang="es-AR" sz="1900" dirty="0" err="1"/>
              <a:t>hiperparámetro</a:t>
            </a:r>
            <a:r>
              <a:rPr lang="es-AR" sz="1900" dirty="0"/>
              <a:t> </a:t>
            </a:r>
            <a:r>
              <a:rPr lang="es-AR" sz="1900" dirty="0" err="1"/>
              <a:t>alpha</a:t>
            </a:r>
            <a:r>
              <a:rPr lang="es-AR" sz="1900" dirty="0"/>
              <a:t> óptimo</a:t>
            </a:r>
          </a:p>
          <a:p>
            <a:r>
              <a:rPr lang="es-AR" sz="1900" dirty="0"/>
              <a:t>- La robustez y consistencia del modelo se evaluaron mediante la técnica de Validación Cruzada </a:t>
            </a:r>
            <a:r>
              <a:rPr lang="es-AR" sz="1900" dirty="0" err="1"/>
              <a:t>KFold</a:t>
            </a:r>
            <a:r>
              <a:rPr lang="es-AR" sz="1900" dirty="0"/>
              <a:t> con 5 divisiones .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923965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57AFC3-D1DA-74FC-D147-B75D5ACF3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AR" dirty="0">
                <a:solidFill>
                  <a:srgbClr val="1F1F1F"/>
                </a:solidFill>
                <a:effectLst/>
                <a:ea typeface="SimSun" panose="02010600030101010101" pitchFamily="2" charset="-122"/>
                <a:cs typeface="Times New Roman" panose="02020603050405020304" pitchFamily="18" charset="0"/>
              </a:rPr>
              <a:t>7.Conclusiones del Modelado</a:t>
            </a:r>
            <a:br>
              <a:rPr lang="es-AR" dirty="0">
                <a:solidFill>
                  <a:srgbClr val="44546A"/>
                </a:solidFill>
                <a:effectLst/>
                <a:ea typeface="SimSun" panose="02010600030101010101" pitchFamily="2" charset="-122"/>
                <a:cs typeface="Times New Roman" panose="02020603050405020304" pitchFamily="18" charset="0"/>
              </a:rPr>
            </a:b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F539527-7082-8664-0B1F-6EC7EDBB63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>
              <a:lnSpc>
                <a:spcPct val="110000"/>
              </a:lnSpc>
              <a:spcAft>
                <a:spcPts val="600"/>
              </a:spcAft>
            </a:pPr>
            <a:r>
              <a:rPr lang="es-AR" dirty="0"/>
              <a:t>R²: Varió entre 0.9775 y 0.9896. Estos valores consistentemente altos indican que el modelo mantiene una gran capacidad predictiva a través de diferentes particiones de los datos.</a:t>
            </a:r>
          </a:p>
          <a:p>
            <a:pPr marL="457200">
              <a:lnSpc>
                <a:spcPct val="110000"/>
              </a:lnSpc>
              <a:spcAft>
                <a:spcPts val="600"/>
              </a:spcAft>
            </a:pPr>
            <a:r>
              <a:rPr lang="es-AR" dirty="0"/>
              <a:t>MSE: Osciló entre 37.4724 y 62.7834.</a:t>
            </a:r>
          </a:p>
          <a:p>
            <a:pPr marL="457200">
              <a:lnSpc>
                <a:spcPct val="110000"/>
              </a:lnSpc>
              <a:spcAft>
                <a:spcPts val="600"/>
              </a:spcAft>
            </a:pPr>
            <a:r>
              <a:rPr lang="es-AR" dirty="0"/>
              <a:t>MAE: Se mantuvo en un rango estrecho, entre 4.3888 y 5.0552.</a:t>
            </a:r>
          </a:p>
          <a:p>
            <a:r>
              <a:rPr lang="es-AR" dirty="0"/>
              <a:t>Los resultados de las métricas de rendimiento y la validación cruzada </a:t>
            </a:r>
            <a:r>
              <a:rPr lang="es-AR" dirty="0" err="1"/>
              <a:t>KFold</a:t>
            </a:r>
            <a:r>
              <a:rPr lang="es-AR" dirty="0"/>
              <a:t> demuestran que el modelo de regresión lineal (y su mejora con Lasso) es robusto y consistente</a:t>
            </a:r>
          </a:p>
          <a:p>
            <a:endParaRPr lang="es-AR" b="1" dirty="0">
              <a:latin typeface="Segoe UI" panose="020B0502040204020203" pitchFamily="34" charset="0"/>
            </a:endParaRP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3359662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D443F1-CFF9-B78D-DE02-690ACAFBA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>
                <a:solidFill>
                  <a:srgbClr val="1F1F1F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8. Integración del Modelo con API para Datos en Tiempo Real</a:t>
            </a:r>
            <a:br>
              <a:rPr lang="es-AR" sz="1800" b="1" dirty="0">
                <a:solidFill>
                  <a:srgbClr val="44546A"/>
                </a:solidFill>
                <a:effectLst/>
                <a:latin typeface="Calibri Light" panose="020F03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</a:b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18DE6C-D7FF-9928-DAC4-BABB9732E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/>
              <a:t>Para validar y aplicar el modelo de regresión lineal en un escenario más cercano a la realidad, se estableció una conexión con la API de Alpha </a:t>
            </a:r>
            <a:r>
              <a:rPr lang="es-AR" dirty="0" err="1"/>
              <a:t>Vantage</a:t>
            </a:r>
            <a:r>
              <a:rPr lang="es-AR" dirty="0"/>
              <a:t>. El objetivo fue obtener datos financieros actualizados de una acción específica y, a partir de ellos, generar una predicción de precio utilizando nuestro modelo. A modo de ejemplo, se utilizó el símbolo bursátil GOOGL para </a:t>
            </a:r>
            <a:r>
              <a:rPr lang="es-AR" dirty="0" err="1"/>
              <a:t>Alphabet</a:t>
            </a:r>
            <a:r>
              <a:rPr lang="es-AR" dirty="0"/>
              <a:t> Inc.</a:t>
            </a:r>
          </a:p>
        </p:txBody>
      </p:sp>
    </p:spTree>
    <p:extLst>
      <p:ext uri="{BB962C8B-B14F-4D97-AF65-F5344CB8AC3E}">
        <p14:creationId xmlns:p14="http://schemas.microsoft.com/office/powerpoint/2010/main" val="35192340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61BF1E-07C7-3333-CA33-32AC0C5FB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>
                <a:solidFill>
                  <a:srgbClr val="1F1F1F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9. Conclusiones</a:t>
            </a:r>
            <a:br>
              <a:rPr lang="es-AR" sz="1800" b="1" dirty="0">
                <a:solidFill>
                  <a:srgbClr val="44546A"/>
                </a:solidFill>
                <a:effectLst/>
                <a:latin typeface="Calibri Light" panose="020F03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</a:b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7A50181-E314-CD08-BDCC-78734FDB0C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AR" dirty="0"/>
              <a:t>Si bien los indicadores de evaluación indican un buen modelo, es esencial probar el modelo en tiempo real para evaluar su precisión y consistencia en condiciones de mercado dinámicas.</a:t>
            </a:r>
          </a:p>
          <a:p>
            <a:r>
              <a:rPr lang="es-AR" dirty="0"/>
              <a:t>Si el modelo demuestra robustez, puede integrarse con un </a:t>
            </a:r>
            <a:r>
              <a:rPr lang="es-AR" dirty="0" err="1"/>
              <a:t>bot</a:t>
            </a:r>
            <a:r>
              <a:rPr lang="es-AR" dirty="0"/>
              <a:t> de trading para ejecutar órdenes de compra/venta automáticamente, optimizando la velocidad y eliminando sesgos emocionales aunque siempre es crucial incluir me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s-AR" dirty="0"/>
              <a:t>Modelos Específicos por Empresa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s-AR" dirty="0"/>
              <a:t>Para mejorar la precisión, se sugiere desarrollar modelos especializados por empresa o sector, incorporando variables macroeconómicas (PIB, </a:t>
            </a:r>
            <a:r>
              <a:rPr lang="es-AR" dirty="0" err="1"/>
              <a:t>commodities</a:t>
            </a:r>
            <a:r>
              <a:rPr lang="es-AR" dirty="0"/>
              <a:t>), financieras (índices bursátiles, tipo de cambio) y microeconómicas (competencia, desempeño de empresas relacionadas).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s-AR" dirty="0"/>
              <a:t>La combinación de modelos generales y específicos podría generar señales más confiables al cruzar predicciones.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endParaRPr lang="es-AR" dirty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190223924"/>
      </p:ext>
    </p:extLst>
  </p:cSld>
  <p:clrMapOvr>
    <a:masterClrMapping/>
  </p:clrMapOvr>
</p:sld>
</file>

<file path=ppt/theme/theme1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Override1.xml><?xml version="1.0" encoding="utf-8"?>
<a:themeOverride xmlns:a="http://schemas.openxmlformats.org/drawingml/2006/main">
  <a:clrScheme name="Espiral">
    <a:dk1>
      <a:sysClr val="windowText" lastClr="000000"/>
    </a:dk1>
    <a:lt1>
      <a:sysClr val="window" lastClr="FFFFFF"/>
    </a:lt1>
    <a:dk2>
      <a:srgbClr val="766F54"/>
    </a:dk2>
    <a:lt2>
      <a:srgbClr val="E3EACF"/>
    </a:lt2>
    <a:accent1>
      <a:srgbClr val="A53010"/>
    </a:accent1>
    <a:accent2>
      <a:srgbClr val="DE7E18"/>
    </a:accent2>
    <a:accent3>
      <a:srgbClr val="9F8351"/>
    </a:accent3>
    <a:accent4>
      <a:srgbClr val="728653"/>
    </a:accent4>
    <a:accent5>
      <a:srgbClr val="92AA4C"/>
    </a:accent5>
    <a:accent6>
      <a:srgbClr val="6AAC91"/>
    </a:accent6>
    <a:hlink>
      <a:srgbClr val="FB4A18"/>
    </a:hlink>
    <a:folHlink>
      <a:srgbClr val="FB931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Words>815</Words>
  <Application>Microsoft Office PowerPoint</Application>
  <PresentationFormat>Presentación en pantalla (4:3)</PresentationFormat>
  <Paragraphs>56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Century Gothic</vt:lpstr>
      <vt:lpstr>Segoe UI</vt:lpstr>
      <vt:lpstr>Wingdings 3</vt:lpstr>
      <vt:lpstr>Espiral</vt:lpstr>
      <vt:lpstr>Presentación de PowerPoint</vt:lpstr>
      <vt:lpstr>1. Motivación y Audiencia</vt:lpstr>
      <vt:lpstr>2. Resumen de Metadata</vt:lpstr>
      <vt:lpstr>3. Preguntas e Hipótesis</vt:lpstr>
      <vt:lpstr>4. Visualizaciones Ejecutivas</vt:lpstr>
      <vt:lpstr>5. Insights y Conclusiones</vt:lpstr>
      <vt:lpstr>6. Modelado y Evaluación </vt:lpstr>
      <vt:lpstr>7.Conclusiones del Modelado </vt:lpstr>
      <vt:lpstr>8. Integración del Modelo con API para Datos en Tiempo Real </vt:lpstr>
      <vt:lpstr>9. Conclusiones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Martin Cerioli</cp:lastModifiedBy>
  <cp:revision>4</cp:revision>
  <dcterms:created xsi:type="dcterms:W3CDTF">2013-01-27T09:14:16Z</dcterms:created>
  <dcterms:modified xsi:type="dcterms:W3CDTF">2025-12-12T00:40:31Z</dcterms:modified>
  <cp:category/>
</cp:coreProperties>
</file>