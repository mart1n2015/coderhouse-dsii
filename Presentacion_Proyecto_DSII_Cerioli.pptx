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77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12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64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451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1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61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625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43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5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4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687196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5266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07937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3360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5322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819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FEE67B-6166-0910-0736-EC6764FA1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s-MX" sz="3200" dirty="0"/>
              <a:t>PREDICCION DE PRECIO DE ACCIONES DEL S&amp;P 500 </a:t>
            </a:r>
          </a:p>
          <a:p>
            <a:pPr algn="ctr"/>
            <a:endParaRPr lang="es-MX" sz="3200" dirty="0"/>
          </a:p>
          <a:p>
            <a:pPr algn="ctr"/>
            <a:endParaRPr lang="es-MX" sz="3200" dirty="0"/>
          </a:p>
          <a:p>
            <a:pPr algn="ctr"/>
            <a:endParaRPr lang="es-MX" sz="3200" dirty="0"/>
          </a:p>
          <a:p>
            <a:pPr algn="ctr"/>
            <a:endParaRPr lang="es-MX" sz="3200" dirty="0"/>
          </a:p>
          <a:p>
            <a:pPr algn="r"/>
            <a:r>
              <a:rPr lang="es-AR" sz="1700" dirty="0"/>
              <a:t>CERIOLI MARTIN</a:t>
            </a:r>
          </a:p>
          <a:p>
            <a:pPr algn="r"/>
            <a:r>
              <a:rPr lang="es-AR" sz="1700" dirty="0"/>
              <a:t>Data </a:t>
            </a:r>
            <a:r>
              <a:rPr lang="es-AR" sz="1700" dirty="0" err="1"/>
              <a:t>Science</a:t>
            </a:r>
            <a:r>
              <a:rPr lang="es-AR" sz="1700" dirty="0"/>
              <a:t> II</a:t>
            </a:r>
          </a:p>
          <a:p>
            <a:pPr algn="r"/>
            <a:endParaRPr lang="es-AR" sz="1700" dirty="0"/>
          </a:p>
          <a:p>
            <a:pPr marL="0" indent="0" algn="r">
              <a:buNone/>
            </a:pPr>
            <a:endParaRPr lang="es-AR" sz="1700" dirty="0"/>
          </a:p>
          <a:p>
            <a:pPr algn="r"/>
            <a:endParaRPr lang="es-AR" sz="1700" dirty="0"/>
          </a:p>
        </p:txBody>
      </p:sp>
    </p:spTree>
    <p:extLst>
      <p:ext uri="{BB962C8B-B14F-4D97-AF65-F5344CB8AC3E}">
        <p14:creationId xmlns:p14="http://schemas.microsoft.com/office/powerpoint/2010/main" val="991355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Motivación</a:t>
            </a:r>
            <a:r>
              <a:rPr dirty="0"/>
              <a:t> y Audiencia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Este </a:t>
            </a:r>
            <a:r>
              <a:rPr dirty="0" err="1"/>
              <a:t>proyecto</a:t>
            </a:r>
            <a:r>
              <a:rPr dirty="0"/>
              <a:t> </a:t>
            </a:r>
            <a:r>
              <a:rPr dirty="0" err="1"/>
              <a:t>analiza</a:t>
            </a:r>
            <a:r>
              <a:rPr dirty="0"/>
              <a:t> </a:t>
            </a:r>
            <a:r>
              <a:rPr dirty="0" err="1"/>
              <a:t>datos</a:t>
            </a:r>
            <a:r>
              <a:rPr dirty="0"/>
              <a:t> </a:t>
            </a:r>
            <a:r>
              <a:rPr dirty="0" err="1"/>
              <a:t>financieros</a:t>
            </a:r>
            <a:r>
              <a:rPr dirty="0"/>
              <a:t> de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cotizantes</a:t>
            </a:r>
            <a:r>
              <a:rPr dirty="0"/>
              <a:t> con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objetivo</a:t>
            </a:r>
            <a:r>
              <a:rPr dirty="0"/>
              <a:t> de </a:t>
            </a:r>
            <a:r>
              <a:rPr dirty="0" err="1"/>
              <a:t>predecir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precio</a:t>
            </a:r>
            <a:r>
              <a:rPr dirty="0"/>
              <a:t> de las </a:t>
            </a:r>
            <a:r>
              <a:rPr dirty="0" err="1"/>
              <a:t>acciones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función</a:t>
            </a:r>
            <a:r>
              <a:rPr dirty="0"/>
              <a:t> de sus ratios </a:t>
            </a:r>
            <a:r>
              <a:rPr dirty="0" err="1"/>
              <a:t>fundamentales</a:t>
            </a:r>
            <a:r>
              <a:rPr dirty="0"/>
              <a:t> (P/E, P/B, EBITDA, Market Cap, etc.). La </a:t>
            </a:r>
            <a:r>
              <a:rPr dirty="0" err="1"/>
              <a:t>motivación</a:t>
            </a:r>
            <a:r>
              <a:rPr dirty="0"/>
              <a:t> principal es </a:t>
            </a:r>
            <a:r>
              <a:rPr dirty="0" err="1"/>
              <a:t>identificar</a:t>
            </a:r>
            <a:r>
              <a:rPr dirty="0"/>
              <a:t> </a:t>
            </a:r>
            <a:r>
              <a:rPr dirty="0" err="1"/>
              <a:t>patrones</a:t>
            </a:r>
            <a:r>
              <a:rPr dirty="0"/>
              <a:t> que </a:t>
            </a:r>
            <a:r>
              <a:rPr dirty="0" err="1"/>
              <a:t>permitan</a:t>
            </a:r>
            <a:r>
              <a:rPr dirty="0"/>
              <a:t> </a:t>
            </a:r>
            <a:r>
              <a:rPr dirty="0" err="1"/>
              <a:t>mejorar</a:t>
            </a:r>
            <a:r>
              <a:rPr dirty="0"/>
              <a:t> </a:t>
            </a:r>
            <a:r>
              <a:rPr dirty="0" err="1"/>
              <a:t>decisiones</a:t>
            </a:r>
            <a:r>
              <a:rPr dirty="0"/>
              <a:t> de </a:t>
            </a:r>
            <a:r>
              <a:rPr dirty="0" err="1"/>
              <a:t>inversión</a:t>
            </a:r>
            <a:r>
              <a:rPr dirty="0"/>
              <a:t>. La audiencia </a:t>
            </a:r>
            <a:r>
              <a:rPr dirty="0" err="1"/>
              <a:t>beneficiaria</a:t>
            </a:r>
            <a:r>
              <a:rPr dirty="0"/>
              <a:t> </a:t>
            </a:r>
            <a:r>
              <a:rPr dirty="0" err="1"/>
              <a:t>incluye</a:t>
            </a:r>
            <a:r>
              <a:rPr dirty="0"/>
              <a:t> </a:t>
            </a:r>
            <a:r>
              <a:rPr dirty="0" err="1"/>
              <a:t>analistas</a:t>
            </a:r>
            <a:r>
              <a:rPr dirty="0"/>
              <a:t> </a:t>
            </a:r>
            <a:r>
              <a:rPr dirty="0" err="1"/>
              <a:t>financieros</a:t>
            </a:r>
            <a:r>
              <a:rPr dirty="0"/>
              <a:t>, </a:t>
            </a:r>
            <a:r>
              <a:rPr dirty="0" err="1"/>
              <a:t>inversores</a:t>
            </a:r>
            <a:r>
              <a:rPr dirty="0"/>
              <a:t> </a:t>
            </a:r>
            <a:r>
              <a:rPr dirty="0" err="1"/>
              <a:t>minoristas</a:t>
            </a:r>
            <a:r>
              <a:rPr dirty="0"/>
              <a:t> y </a:t>
            </a:r>
            <a:r>
              <a:rPr dirty="0" err="1"/>
              <a:t>estudiantes</a:t>
            </a:r>
            <a:r>
              <a:rPr dirty="0"/>
              <a:t> de data science </a:t>
            </a:r>
            <a:r>
              <a:rPr dirty="0" err="1"/>
              <a:t>interesados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modelado</a:t>
            </a:r>
            <a:r>
              <a:rPr dirty="0"/>
              <a:t> </a:t>
            </a:r>
            <a:r>
              <a:rPr dirty="0" err="1"/>
              <a:t>financiero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Resumen de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El dataset contiene información de empresas listadas en el mercado, con las siguientes características:</a:t>
            </a:r>
          </a:p>
          <a:p>
            <a:endParaRPr/>
          </a:p>
          <a:p>
            <a:r>
              <a:t>- Filas: Número variable según las empresas incluidas</a:t>
            </a:r>
          </a:p>
          <a:p>
            <a:r>
              <a:t>- Columnas: 13 (Symbol, Name, Sector, Price, Price/Earnings, Dividend Yield, Earnings/Share, 52 Week Low, 52 Week High, Market Cap, EBITDA, Price/Sales, Price/Book)</a:t>
            </a:r>
          </a:p>
          <a:p>
            <a:r>
              <a:t>- Variables categóricas: Symbol, Name, Sector</a:t>
            </a:r>
          </a:p>
          <a:p>
            <a:r>
              <a:t>- Variables numéricas: ratios financieros y precios.</a:t>
            </a:r>
          </a:p>
          <a:p>
            <a:endParaRPr/>
          </a:p>
          <a:p>
            <a:r>
              <a:t>Los datos fueron complementados con información actualizada desde la API de Alpha Vantage.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Preguntas e Hipótesis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¿Qué variables financieras tienen mayor impacto en el precio de una acción?</a:t>
            </a:r>
          </a:p>
          <a:p>
            <a:r>
              <a:t>- ¿Existen sectores con precios sistemáticamente más altos o bajos?</a:t>
            </a:r>
          </a:p>
          <a:p>
            <a:r>
              <a:t>- ¿El ratio P/E es un predictor significativo del precio?</a:t>
            </a:r>
          </a:p>
          <a:p>
            <a:r>
              <a:t>- ¿Puede un modelo de regresión lineal estimar correctamente el precio de una acción usando los datos fundamentales?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Visualizaciones Ejecutivas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Se realizaron las siguientes visualizaciones clave:</a:t>
            </a:r>
          </a:p>
          <a:p>
            <a:endParaRPr/>
          </a:p>
          <a:p>
            <a:r>
              <a:t>- Gráfico de dispersión entre Price y P/E.</a:t>
            </a:r>
          </a:p>
          <a:p>
            <a:r>
              <a:t>- Boxplot del precio por sector.</a:t>
            </a:r>
          </a:p>
          <a:p>
            <a:r>
              <a:t>- Matriz de correlación entre variables financieras.</a:t>
            </a:r>
          </a:p>
          <a:p>
            <a:r>
              <a:t>- Curva de predicción del modelo lineal vs precios reales.</a:t>
            </a:r>
          </a:p>
          <a:p>
            <a:endParaRPr/>
          </a:p>
          <a:p>
            <a:r>
              <a:t>Estas visualizaciones permitieron validar la relación entre variables y evaluar el desempeño del modelo predictivo.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Insights y 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- El ratio P/E y el Market Cap mostraron la mayor correlación con el precio.</a:t>
            </a:r>
          </a:p>
          <a:p>
            <a:r>
              <a:t>- La inclusión del sector mediante One-Hot Encoding mejoró la precisión del modelo.</a:t>
            </a:r>
          </a:p>
          <a:p>
            <a:r>
              <a:t>- El modelo de regresión lineal logró un R² razonable, mostrando capacidad de explicar la variación del precio.</a:t>
            </a:r>
          </a:p>
          <a:p>
            <a:r>
              <a:t>- Sectores tecnológicos y de salud tendieron a presentar precios más altos que energía y servicios.</a:t>
            </a:r>
          </a:p>
          <a:p>
            <a:r>
              <a:t>- Este tipo de análisis puede ampliarse integrando datos en tiempo real vía API y aplicando modelos no lineales más avanzados.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piral">
  <a:themeElements>
    <a:clrScheme name="Espiral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Espiral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Espiral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20</TotalTime>
  <Words>425</Words>
  <Application>Microsoft Office PowerPoint</Application>
  <PresentationFormat>Presentación en pantalla (4:3)</PresentationFormat>
  <Paragraphs>39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Espiral</vt:lpstr>
      <vt:lpstr>Presentación de PowerPoint</vt:lpstr>
      <vt:lpstr>1. Motivación y Audiencia</vt:lpstr>
      <vt:lpstr>2. Resumen de Metadata</vt:lpstr>
      <vt:lpstr>3. Preguntas e Hipótesis</vt:lpstr>
      <vt:lpstr>4. Visualizaciones Ejecutivas</vt:lpstr>
      <vt:lpstr>5. Insights y Conclusiones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Martin Cerioli</cp:lastModifiedBy>
  <cp:revision>3</cp:revision>
  <dcterms:created xsi:type="dcterms:W3CDTF">2013-01-27T09:14:16Z</dcterms:created>
  <dcterms:modified xsi:type="dcterms:W3CDTF">2025-10-19T23:41:03Z</dcterms:modified>
  <cp:category/>
</cp:coreProperties>
</file>